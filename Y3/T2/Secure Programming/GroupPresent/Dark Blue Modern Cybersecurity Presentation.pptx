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Zcool QingKe HuangYou" charset="1" panose="00000500000000000000"/>
      <p:regular r:id="rId18"/>
    </p:embeddedFont>
    <p:embeddedFont>
      <p:font typeface="Inter" charset="1" panose="020B0502030000000004"/>
      <p:regular r:id="rId19"/>
    </p:embeddedFont>
    <p:embeddedFont>
      <p:font typeface="Inter Bold" charset="1" panose="020B0802030000000004"/>
      <p:regular r:id="rId20"/>
    </p:embeddedFont>
    <p:embeddedFont>
      <p:font typeface="Open Sans Bold" charset="1" panose="00000000000000000000"/>
      <p:regular r:id="rId21"/>
    </p:embeddedFont>
    <p:embeddedFont>
      <p:font typeface="TT Lakes Neue Bold" charset="1" panose="02010001040000080307"/>
      <p:regular r:id="rId22"/>
    </p:embeddedFont>
    <p:embeddedFont>
      <p:font typeface="Open Sans" charset="1" panose="00000000000000000000"/>
      <p:regular r:id="rId23"/>
    </p:embeddedFont>
    <p:embeddedFont>
      <p:font typeface="Canva Sans" charset="1" panose="020B0503030501040103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jpe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youtu.be/fqqd5aaeibo" TargetMode="External" Type="http://schemas.openxmlformats.org/officeDocument/2006/relationships/hyperlink"/><Relationship Id="rId8" Target="../media/image22.jpeg" Type="http://schemas.openxmlformats.org/officeDocument/2006/relationships/image"/><Relationship Id="rId9" Target="https://youtu.be/fqqd5aaeibo" TargetMode="External" Type="http://schemas.openxmlformats.org/officeDocument/2006/relationships/video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youtu.be/BlL8oo71ch0" TargetMode="External" Type="http://schemas.openxmlformats.org/officeDocument/2006/relationships/hyperlink"/><Relationship Id="rId8" Target="../media/image22.jpeg" Type="http://schemas.openxmlformats.org/officeDocument/2006/relationships/image"/><Relationship Id="rId9" Target="https://youtu.be/BlL8oo71ch0" TargetMode="External" Type="http://schemas.openxmlformats.org/officeDocument/2006/relationships/video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3.png" Type="http://schemas.openxmlformats.org/officeDocument/2006/relationships/image"/><Relationship Id="rId8" Target="http://127.0.0.1:5000/secrethttp:/192.168.1.10/config" TargetMode="External" Type="http://schemas.openxmlformats.org/officeDocument/2006/relationships/hyperlink"/><Relationship Id="rId9" Target="http://127.0.0.1:5000/secrethttp:/192.168.1.10/config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https://cheatsheetseries.owasp.org/cheatsheets/Server_Side_Request_Forgery_Prevention_Cheat_Sheet.html" TargetMode="External" Type="http://schemas.openxmlformats.org/officeDocument/2006/relationships/hyperlink"/><Relationship Id="rId12" Target="https://cheatsheetseries.owasp.org/assets/Server_Side_Request_Forgery_Prevention_Cheat_Sheet_SSRF_Bible.pdf" TargetMode="External" Type="http://schemas.openxmlformats.org/officeDocument/2006/relationships/hyperlink"/><Relationship Id="rId13" Target="https://info.veracode.com/rs/790-ZKW-291/images/ssrf-prevention-guide-en.pdf" TargetMode="External" Type="http://schemas.openxmlformats.org/officeDocument/2006/relationships/hyperlink"/><Relationship Id="rId14" Target="https://blackhat.com/docs/us-17/thursday/us-17-Tsai-A-New-Era-Of-SSRF-Exploiting-URL-Parser-In-Trending-Programming-Languages.pdf" TargetMode="External" Type="http://schemas.openxmlformats.org/officeDocument/2006/relationships/hyperlink"/><Relationship Id="rId2" Target="../media/image6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477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4415" y="1384599"/>
            <a:ext cx="15339170" cy="491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4"/>
              </a:lnSpc>
            </a:pPr>
            <a:r>
              <a:rPr lang="en-US" sz="17376">
                <a:solidFill>
                  <a:srgbClr val="FFFFFF"/>
                </a:solidFill>
                <a:latin typeface="Zcool QingKe HuangYou"/>
                <a:ea typeface="Zcool QingKe HuangYou"/>
                <a:cs typeface="Zcool QingKe HuangYou"/>
                <a:sym typeface="Zcool QingKe HuangYou"/>
              </a:rPr>
              <a:t>SERVER SIDE</a:t>
            </a:r>
          </a:p>
          <a:p>
            <a:pPr algn="ctr">
              <a:lnSpc>
                <a:spcPts val="19114"/>
              </a:lnSpc>
            </a:pPr>
            <a:r>
              <a:rPr lang="en-US" sz="17376">
                <a:solidFill>
                  <a:srgbClr val="FFFFFF"/>
                </a:solidFill>
                <a:latin typeface="Zcool QingKe HuangYou"/>
                <a:ea typeface="Zcool QingKe HuangYou"/>
                <a:cs typeface="Zcool QingKe HuangYou"/>
                <a:sym typeface="Zcool QingKe HuangYou"/>
              </a:rPr>
              <a:t>REQUEST FORGERY</a:t>
            </a:r>
          </a:p>
        </p:txBody>
      </p:sp>
      <p:grpSp>
        <p:nvGrpSpPr>
          <p:cNvPr name="Group 5" id="5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16788598" y="2186985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0800000">
            <a:off x="-4519755" y="2186985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6211019" y="0"/>
                </a:moveTo>
                <a:lnTo>
                  <a:pt x="0" y="0"/>
                </a:lnTo>
                <a:lnTo>
                  <a:pt x="0" y="4114800"/>
                </a:lnTo>
                <a:lnTo>
                  <a:pt x="6211019" y="4114800"/>
                </a:lnTo>
                <a:lnTo>
                  <a:pt x="6211019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42593" y="6301785"/>
            <a:ext cx="8802813" cy="767827"/>
            <a:chOff x="0" y="0"/>
            <a:chExt cx="11737084" cy="102376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63860" y="0"/>
              <a:ext cx="10989825" cy="1023769"/>
              <a:chOff x="0" y="0"/>
              <a:chExt cx="7894419" cy="73541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894419" cy="735413"/>
              </a:xfrm>
              <a:custGeom>
                <a:avLst/>
                <a:gdLst/>
                <a:ahLst/>
                <a:cxnLst/>
                <a:rect r="r" b="b" t="t" l="l"/>
                <a:pathLst>
                  <a:path h="735413" w="7894419">
                    <a:moveTo>
                      <a:pt x="203200" y="0"/>
                    </a:moveTo>
                    <a:lnTo>
                      <a:pt x="7894419" y="0"/>
                    </a:lnTo>
                    <a:lnTo>
                      <a:pt x="7691219" y="735413"/>
                    </a:lnTo>
                    <a:lnTo>
                      <a:pt x="0" y="735413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19050"/>
                <a:ext cx="7691219" cy="7163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36186"/>
              <a:ext cx="11737084" cy="68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7"/>
                </a:lnSpc>
              </a:pPr>
              <a:r>
                <a:rPr lang="en-US" sz="310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Attacks and Mitigations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317897" y="8618418"/>
            <a:ext cx="941403" cy="36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20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9074436"/>
            <a:ext cx="5094539" cy="318386"/>
            <a:chOff x="0" y="0"/>
            <a:chExt cx="6792719" cy="42451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4021"/>
              <a:ext cx="2690423" cy="468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7"/>
                </a:lnSpc>
              </a:pPr>
              <a:r>
                <a:rPr lang="en-US" sz="20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Professor 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30689" y="-47625"/>
              <a:ext cx="4862029" cy="472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7"/>
                </a:lnSpc>
              </a:pPr>
              <a:r>
                <a:rPr lang="en-US" sz="2098" b="true">
                  <a:solidFill>
                    <a:srgbClr val="6FDBF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LAY Leangsros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395624" y="9026985"/>
            <a:ext cx="2863676" cy="36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2098" b="true">
                <a:solidFill>
                  <a:srgbClr val="6FDBF3"/>
                </a:solidFill>
                <a:latin typeface="Inter Bold"/>
                <a:ea typeface="Inter Bold"/>
                <a:cs typeface="Inter Bold"/>
                <a:sym typeface="Inter Bold"/>
              </a:rPr>
              <a:t>March 27</a:t>
            </a:r>
            <a:r>
              <a:rPr lang="en-US" sz="2098" b="true">
                <a:solidFill>
                  <a:srgbClr val="6FDBF3"/>
                </a:solidFill>
                <a:latin typeface="Inter Bold"/>
                <a:ea typeface="Inter Bold"/>
                <a:cs typeface="Inter Bold"/>
                <a:sym typeface="Inter Bold"/>
              </a:rPr>
              <a:t>th</a:t>
            </a:r>
            <a:r>
              <a:rPr lang="en-US" sz="2098" b="true">
                <a:solidFill>
                  <a:srgbClr val="6FDBF3"/>
                </a:solidFill>
                <a:latin typeface="Inter Bold"/>
                <a:ea typeface="Inter Bold"/>
                <a:cs typeface="Inter Bold"/>
                <a:sym typeface="Inter Bold"/>
              </a:rPr>
              <a:t>,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53813" y="569627"/>
            <a:ext cx="2912070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44598" y="431473"/>
            <a:ext cx="712493" cy="35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5091" y="7236142"/>
            <a:ext cx="2017817" cy="36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0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72957" y="7716400"/>
            <a:ext cx="1942086" cy="110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098" b="true">
                <a:solidFill>
                  <a:srgbClr val="6FDBF3"/>
                </a:solidFill>
                <a:latin typeface="Inter Bold"/>
                <a:ea typeface="Inter Bold"/>
                <a:cs typeface="Inter Bold"/>
                <a:sym typeface="Inter Bold"/>
              </a:rPr>
              <a:t>THY Dayuth</a:t>
            </a:r>
          </a:p>
          <a:p>
            <a:pPr algn="ctr">
              <a:lnSpc>
                <a:spcPts val="2937"/>
              </a:lnSpc>
            </a:pPr>
            <a:r>
              <a:rPr lang="en-US" sz="2098" b="true">
                <a:solidFill>
                  <a:srgbClr val="6FDBF3"/>
                </a:solidFill>
                <a:latin typeface="Inter Bold"/>
                <a:ea typeface="Inter Bold"/>
                <a:cs typeface="Inter Bold"/>
                <a:sym typeface="Inter Bold"/>
              </a:rPr>
              <a:t>CHO Davon</a:t>
            </a:r>
          </a:p>
          <a:p>
            <a:pPr algn="ctr">
              <a:lnSpc>
                <a:spcPts val="2937"/>
              </a:lnSpc>
            </a:pPr>
            <a:r>
              <a:rPr lang="en-US" sz="2098" b="true">
                <a:solidFill>
                  <a:srgbClr val="6FDBF3"/>
                </a:solidFill>
                <a:latin typeface="Inter Bold"/>
                <a:ea typeface="Inter Bold"/>
                <a:cs typeface="Inter Bold"/>
                <a:sym typeface="Inter Bold"/>
              </a:rPr>
              <a:t>KOSAL Karuna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50430" y="3097988"/>
            <a:ext cx="6408870" cy="4164850"/>
            <a:chOff x="0" y="0"/>
            <a:chExt cx="992902" cy="6452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902" cy="645244"/>
            </a:xfrm>
            <a:custGeom>
              <a:avLst/>
              <a:gdLst/>
              <a:ahLst/>
              <a:cxnLst/>
              <a:rect r="r" b="b" t="t" l="l"/>
              <a:pathLst>
                <a:path h="645244" w="992902">
                  <a:moveTo>
                    <a:pt x="0" y="0"/>
                  </a:moveTo>
                  <a:lnTo>
                    <a:pt x="992902" y="0"/>
                  </a:lnTo>
                  <a:lnTo>
                    <a:pt x="992902" y="645244"/>
                  </a:lnTo>
                  <a:lnTo>
                    <a:pt x="0" y="645244"/>
                  </a:lnTo>
                  <a:close/>
                </a:path>
              </a:pathLst>
            </a:custGeom>
            <a:blipFill>
              <a:blip r:embed="rId3"/>
              <a:stretch>
                <a:fillRect l="0" t="-1293" r="0" b="-129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10393"/>
            <a:ext cx="6222807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Table Content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318682"/>
            <a:ext cx="5199651" cy="2283360"/>
            <a:chOff x="0" y="0"/>
            <a:chExt cx="6932868" cy="304448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04740" cy="1204740"/>
              <a:chOff x="0" y="0"/>
              <a:chExt cx="237973" cy="23797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839740"/>
              <a:ext cx="1204740" cy="1204740"/>
              <a:chOff x="0" y="0"/>
              <a:chExt cx="237973" cy="23797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289003" y="324257"/>
              <a:ext cx="626733" cy="556226"/>
            </a:xfrm>
            <a:custGeom>
              <a:avLst/>
              <a:gdLst/>
              <a:ahLst/>
              <a:cxnLst/>
              <a:rect r="r" b="b" t="t" l="l"/>
              <a:pathLst>
                <a:path h="556226" w="626733">
                  <a:moveTo>
                    <a:pt x="0" y="0"/>
                  </a:moveTo>
                  <a:lnTo>
                    <a:pt x="626734" y="0"/>
                  </a:lnTo>
                  <a:lnTo>
                    <a:pt x="626734" y="556226"/>
                  </a:lnTo>
                  <a:lnTo>
                    <a:pt x="0" y="556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15329" y="2038751"/>
              <a:ext cx="599482" cy="671689"/>
            </a:xfrm>
            <a:custGeom>
              <a:avLst/>
              <a:gdLst/>
              <a:ahLst/>
              <a:cxnLst/>
              <a:rect r="r" b="b" t="t" l="l"/>
              <a:pathLst>
                <a:path h="671689" w="599482">
                  <a:moveTo>
                    <a:pt x="0" y="0"/>
                  </a:moveTo>
                  <a:lnTo>
                    <a:pt x="599482" y="0"/>
                  </a:lnTo>
                  <a:lnTo>
                    <a:pt x="599482" y="671689"/>
                  </a:lnTo>
                  <a:lnTo>
                    <a:pt x="0" y="671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752031" y="343307"/>
              <a:ext cx="5180837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INTRODUCTION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752031" y="2143835"/>
              <a:ext cx="4456828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SSRF WORKS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09968" y="569627"/>
            <a:ext cx="3138323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grpSp>
        <p:nvGrpSpPr>
          <p:cNvPr name="Group 19" id="19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Freeform 23" id="23"/>
          <p:cNvSpPr/>
          <p:nvPr/>
        </p:nvSpPr>
        <p:spPr>
          <a:xfrm flipH="false" flipV="true" rot="8100000">
            <a:off x="5508702" y="-2610140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4114800"/>
                </a:moveTo>
                <a:lnTo>
                  <a:pt x="6211019" y="4114800"/>
                </a:lnTo>
                <a:lnTo>
                  <a:pt x="62110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alphaModFix amt="2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4964089"/>
            <a:ext cx="8819693" cy="2283360"/>
            <a:chOff x="0" y="0"/>
            <a:chExt cx="11759591" cy="304448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04740" cy="1204740"/>
              <a:chOff x="0" y="0"/>
              <a:chExt cx="237973" cy="23797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839740"/>
              <a:ext cx="1204740" cy="1204740"/>
              <a:chOff x="0" y="0"/>
              <a:chExt cx="237973" cy="23797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289003" y="324257"/>
              <a:ext cx="626733" cy="556226"/>
            </a:xfrm>
            <a:custGeom>
              <a:avLst/>
              <a:gdLst/>
              <a:ahLst/>
              <a:cxnLst/>
              <a:rect r="r" b="b" t="t" l="l"/>
              <a:pathLst>
                <a:path h="556226" w="626733">
                  <a:moveTo>
                    <a:pt x="0" y="0"/>
                  </a:moveTo>
                  <a:lnTo>
                    <a:pt x="626734" y="0"/>
                  </a:lnTo>
                  <a:lnTo>
                    <a:pt x="626734" y="556226"/>
                  </a:lnTo>
                  <a:lnTo>
                    <a:pt x="0" y="556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15329" y="2038751"/>
              <a:ext cx="599482" cy="671689"/>
            </a:xfrm>
            <a:custGeom>
              <a:avLst/>
              <a:gdLst/>
              <a:ahLst/>
              <a:cxnLst/>
              <a:rect r="r" b="b" t="t" l="l"/>
              <a:pathLst>
                <a:path h="671689" w="599482">
                  <a:moveTo>
                    <a:pt x="0" y="0"/>
                  </a:moveTo>
                  <a:lnTo>
                    <a:pt x="599482" y="0"/>
                  </a:lnTo>
                  <a:lnTo>
                    <a:pt x="599482" y="671689"/>
                  </a:lnTo>
                  <a:lnTo>
                    <a:pt x="0" y="671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752031" y="343307"/>
              <a:ext cx="10007560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CHARACTERISTICS OR COMMON ATTACK PATHS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752031" y="2143835"/>
              <a:ext cx="4456828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IMPACT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6428" y="7609400"/>
            <a:ext cx="8819693" cy="2283360"/>
            <a:chOff x="0" y="0"/>
            <a:chExt cx="11759591" cy="304448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04740" cy="1204740"/>
              <a:chOff x="0" y="0"/>
              <a:chExt cx="237973" cy="23797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1839740"/>
              <a:ext cx="1204740" cy="1204740"/>
              <a:chOff x="0" y="0"/>
              <a:chExt cx="237973" cy="23797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89003" y="324257"/>
              <a:ext cx="626733" cy="556226"/>
            </a:xfrm>
            <a:custGeom>
              <a:avLst/>
              <a:gdLst/>
              <a:ahLst/>
              <a:cxnLst/>
              <a:rect r="r" b="b" t="t" l="l"/>
              <a:pathLst>
                <a:path h="556226" w="626733">
                  <a:moveTo>
                    <a:pt x="0" y="0"/>
                  </a:moveTo>
                  <a:lnTo>
                    <a:pt x="626734" y="0"/>
                  </a:lnTo>
                  <a:lnTo>
                    <a:pt x="626734" y="556226"/>
                  </a:lnTo>
                  <a:lnTo>
                    <a:pt x="0" y="556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15329" y="2038751"/>
              <a:ext cx="599482" cy="671689"/>
            </a:xfrm>
            <a:custGeom>
              <a:avLst/>
              <a:gdLst/>
              <a:ahLst/>
              <a:cxnLst/>
              <a:rect r="r" b="b" t="t" l="l"/>
              <a:pathLst>
                <a:path h="671689" w="599482">
                  <a:moveTo>
                    <a:pt x="0" y="0"/>
                  </a:moveTo>
                  <a:lnTo>
                    <a:pt x="599482" y="0"/>
                  </a:lnTo>
                  <a:lnTo>
                    <a:pt x="599482" y="671689"/>
                  </a:lnTo>
                  <a:lnTo>
                    <a:pt x="0" y="671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1752031" y="343307"/>
              <a:ext cx="10007560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DEMONSTRATION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752031" y="2143835"/>
              <a:ext cx="6407629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PREVENTION / MITIGATION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5614" y="3992619"/>
            <a:ext cx="473364" cy="473364"/>
            <a:chOff x="0" y="0"/>
            <a:chExt cx="124672" cy="124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65614" y="6123401"/>
            <a:ext cx="473364" cy="473364"/>
            <a:chOff x="0" y="0"/>
            <a:chExt cx="124672" cy="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30108" y="4110960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30108" y="6241742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65614" y="1715996"/>
            <a:ext cx="6798108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Introduction / Definition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99458" y="6191775"/>
            <a:ext cx="326259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“SERVER-SIDE”?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35633" y="4028749"/>
            <a:ext cx="2290328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IS SSRF?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9495" y="6848288"/>
            <a:ext cx="6454486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The request is executed by the backend server, not directly by the attacker.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65614" y="4723862"/>
            <a:ext cx="6508367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SSRF (Server-Side Request Forgery) is a vulnerability where an attacker tricks a server into making unintended requests.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9968" y="569627"/>
            <a:ext cx="3228830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10800000">
            <a:off x="14404045" y="7935201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585705" y="4028749"/>
            <a:ext cx="2290328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IS SSRF?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17067" y="3992619"/>
            <a:ext cx="473364" cy="473364"/>
            <a:chOff x="0" y="0"/>
            <a:chExt cx="124672" cy="12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981561" y="4110960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5" y="0"/>
                </a:lnTo>
                <a:lnTo>
                  <a:pt x="144375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817067" y="4629468"/>
            <a:ext cx="6508367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Attacker → server → target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The attacker does not access the target directly; the server does it for them.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17067" y="6005060"/>
            <a:ext cx="473364" cy="473364"/>
            <a:chOff x="0" y="0"/>
            <a:chExt cx="124672" cy="124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981561" y="6123401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5" y="0"/>
                </a:lnTo>
                <a:lnTo>
                  <a:pt x="144375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550910" y="6073434"/>
            <a:ext cx="326259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IT MATTERS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70948" y="6821324"/>
            <a:ext cx="6454486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Internal systems trust requests from the server.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Attackers can access resources they normally cannot.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9968" y="2963910"/>
            <a:ext cx="473364" cy="473364"/>
            <a:chOff x="0" y="0"/>
            <a:chExt cx="124672" cy="124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9968" y="5094692"/>
            <a:ext cx="473364" cy="473364"/>
            <a:chOff x="0" y="0"/>
            <a:chExt cx="124672" cy="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4461" y="3082251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4461" y="5213033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65614" y="1715996"/>
            <a:ext cx="679810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How SSRF Works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3811" y="5163066"/>
            <a:ext cx="450661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MALICIOUS REQUEST 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79987" y="3000040"/>
            <a:ext cx="425205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 REQUEST 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3849" y="5819579"/>
            <a:ext cx="6454486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The request is executed by the backend server, not directly by the attacker.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9968" y="3695153"/>
            <a:ext cx="6508367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User → Web Application → External Resource (e.g., API, website)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9968" y="569627"/>
            <a:ext cx="3228830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10800000">
            <a:off x="14404045" y="7935201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822887" y="3017120"/>
            <a:ext cx="556784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WHERE IS THE VULNERABILITY?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54248" y="2980990"/>
            <a:ext cx="473364" cy="473364"/>
            <a:chOff x="0" y="0"/>
            <a:chExt cx="124672" cy="12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218742" y="3099331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054248" y="3617839"/>
            <a:ext cx="6508367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Attacker → server → target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The attacker does not access the target directly; the server does it for them.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54248" y="5094692"/>
            <a:ext cx="473364" cy="473364"/>
            <a:chOff x="0" y="0"/>
            <a:chExt cx="124672" cy="124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218742" y="5213033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788091" y="5163066"/>
            <a:ext cx="647952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SERVER BECOMES THE REQUESTER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08129" y="5853806"/>
            <a:ext cx="6454486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Internal systems trust requests from the server.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Attackers can access resources they normally cannot.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0" y="7268442"/>
            <a:ext cx="473364" cy="473364"/>
            <a:chOff x="0" y="0"/>
            <a:chExt cx="124672" cy="1246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9308494" y="7386782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877843" y="7336815"/>
            <a:ext cx="647952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POINT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09968" y="7219118"/>
            <a:ext cx="473364" cy="473364"/>
            <a:chOff x="0" y="0"/>
            <a:chExt cx="124672" cy="1246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672" cy="124672"/>
            </a:xfrm>
            <a:custGeom>
              <a:avLst/>
              <a:gdLst/>
              <a:ahLst/>
              <a:cxnLst/>
              <a:rect r="r" b="b" t="t" l="l"/>
              <a:pathLst>
                <a:path h="124672" w="124672">
                  <a:moveTo>
                    <a:pt x="0" y="0"/>
                  </a:moveTo>
                  <a:lnTo>
                    <a:pt x="124672" y="0"/>
                  </a:lnTo>
                  <a:lnTo>
                    <a:pt x="124672" y="124672"/>
                  </a:lnTo>
                  <a:lnTo>
                    <a:pt x="0" y="124672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124672" cy="10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74461" y="7337459"/>
            <a:ext cx="144376" cy="236682"/>
          </a:xfrm>
          <a:custGeom>
            <a:avLst/>
            <a:gdLst/>
            <a:ahLst/>
            <a:cxnLst/>
            <a:rect r="r" b="b" t="t" l="l"/>
            <a:pathLst>
              <a:path h="236682" w="144376">
                <a:moveTo>
                  <a:pt x="0" y="0"/>
                </a:moveTo>
                <a:lnTo>
                  <a:pt x="144376" y="0"/>
                </a:lnTo>
                <a:lnTo>
                  <a:pt x="144376" y="236682"/>
                </a:lnTo>
                <a:lnTo>
                  <a:pt x="0" y="236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043811" y="7287492"/>
            <a:ext cx="647952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TRUST BOUNDARY PROBLEM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0" y="7989455"/>
            <a:ext cx="6454486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SSRF abuses the server’s trust and access to reach hidden resources.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09968" y="7940132"/>
            <a:ext cx="6454486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Internal systems trust requests from the server.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Attackers can access resources they normally cannot.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5614" y="3939671"/>
            <a:ext cx="7263022" cy="2263288"/>
            <a:chOff x="0" y="0"/>
            <a:chExt cx="1155423" cy="3600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5423" cy="360051"/>
            </a:xfrm>
            <a:custGeom>
              <a:avLst/>
              <a:gdLst/>
              <a:ahLst/>
              <a:cxnLst/>
              <a:rect r="r" b="b" t="t" l="l"/>
              <a:pathLst>
                <a:path h="360051" w="1155423">
                  <a:moveTo>
                    <a:pt x="0" y="0"/>
                  </a:moveTo>
                  <a:lnTo>
                    <a:pt x="1155423" y="0"/>
                  </a:lnTo>
                  <a:lnTo>
                    <a:pt x="1155423" y="360051"/>
                  </a:lnTo>
                  <a:lnTo>
                    <a:pt x="0" y="360051"/>
                  </a:lnTo>
                  <a:close/>
                </a:path>
              </a:pathLst>
            </a:custGeom>
            <a:blipFill>
              <a:blip r:embed="rId3"/>
              <a:stretch>
                <a:fillRect l="0" t="-40254" r="0" b="-4025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65614" y="6460264"/>
            <a:ext cx="7278386" cy="2418541"/>
            <a:chOff x="0" y="0"/>
            <a:chExt cx="1073609" cy="356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3609" cy="356750"/>
            </a:xfrm>
            <a:custGeom>
              <a:avLst/>
              <a:gdLst/>
              <a:ahLst/>
              <a:cxnLst/>
              <a:rect r="r" b="b" t="t" l="l"/>
              <a:pathLst>
                <a:path h="356750" w="1073609">
                  <a:moveTo>
                    <a:pt x="0" y="0"/>
                  </a:moveTo>
                  <a:lnTo>
                    <a:pt x="1073609" y="0"/>
                  </a:lnTo>
                  <a:lnTo>
                    <a:pt x="1073609" y="356750"/>
                  </a:lnTo>
                  <a:lnTo>
                    <a:pt x="0" y="356750"/>
                  </a:lnTo>
                  <a:close/>
                </a:path>
              </a:pathLst>
            </a:custGeom>
            <a:blipFill>
              <a:blip r:embed="rId4"/>
              <a:stretch>
                <a:fillRect l="0" t="-62852" r="0" b="-6285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396895" y="1278493"/>
            <a:ext cx="903555" cy="903555"/>
            <a:chOff x="0" y="0"/>
            <a:chExt cx="237973" cy="2379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96895" y="4817966"/>
            <a:ext cx="903555" cy="903555"/>
            <a:chOff x="0" y="0"/>
            <a:chExt cx="237973" cy="2379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96895" y="7133914"/>
            <a:ext cx="903555" cy="903555"/>
            <a:chOff x="0" y="0"/>
            <a:chExt cx="237973" cy="2379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7131" y="656879"/>
            <a:ext cx="8391862" cy="274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Characteristics / Common Attack Paths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66537" y="1813901"/>
            <a:ext cx="5592763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the se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rver can reach private IPs or internal services.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666537" y="5356516"/>
            <a:ext cx="5372665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the app may 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only expect external URLs, but the attacker supplies an internal one.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666537" y="7672463"/>
            <a:ext cx="5372665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some app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lications fail to restrict what type of resource can be requested.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666537" y="1211818"/>
            <a:ext cx="3972200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Internal network access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66537" y="4754433"/>
            <a:ext cx="5094321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Bypassing intended restrictions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66537" y="7070380"/>
            <a:ext cx="4122679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Different URL schemes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96895" y="1586535"/>
            <a:ext cx="881604" cy="35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96895" y="5101436"/>
            <a:ext cx="88160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96895" y="7417383"/>
            <a:ext cx="88160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grpSp>
        <p:nvGrpSpPr>
          <p:cNvPr name="Group 26" id="26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733062" y="-2385797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402291" y="2886448"/>
            <a:ext cx="903555" cy="903555"/>
            <a:chOff x="0" y="0"/>
            <a:chExt cx="237973" cy="2379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671933" y="3424998"/>
            <a:ext cx="5372665" cy="132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clou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d environments may expose sensitive instance information through special internal endpoints.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671933" y="2822915"/>
            <a:ext cx="3860490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Cloud metadata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02291" y="3169918"/>
            <a:ext cx="88160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5001" y="2354688"/>
            <a:ext cx="903555" cy="903555"/>
            <a:chOff x="0" y="0"/>
            <a:chExt cx="237973" cy="2379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3924" y="6709224"/>
            <a:ext cx="903555" cy="903555"/>
            <a:chOff x="0" y="0"/>
            <a:chExt cx="237973" cy="2379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00873" y="7341800"/>
            <a:ext cx="903555" cy="903555"/>
            <a:chOff x="0" y="0"/>
            <a:chExt cx="237973" cy="2379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001754" y="2597881"/>
            <a:ext cx="470050" cy="417169"/>
          </a:xfrm>
          <a:custGeom>
            <a:avLst/>
            <a:gdLst/>
            <a:ahLst/>
            <a:cxnLst/>
            <a:rect r="r" b="b" t="t" l="l"/>
            <a:pathLst>
              <a:path h="417169" w="470050">
                <a:moveTo>
                  <a:pt x="0" y="0"/>
                </a:moveTo>
                <a:lnTo>
                  <a:pt x="470050" y="0"/>
                </a:lnTo>
                <a:lnTo>
                  <a:pt x="470050" y="417169"/>
                </a:lnTo>
                <a:lnTo>
                  <a:pt x="0" y="417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2777" y="6888551"/>
            <a:ext cx="544900" cy="544900"/>
          </a:xfrm>
          <a:custGeom>
            <a:avLst/>
            <a:gdLst/>
            <a:ahLst/>
            <a:cxnLst/>
            <a:rect r="r" b="b" t="t" l="l"/>
            <a:pathLst>
              <a:path h="544900" w="544900">
                <a:moveTo>
                  <a:pt x="0" y="0"/>
                </a:moveTo>
                <a:lnTo>
                  <a:pt x="544900" y="0"/>
                </a:lnTo>
                <a:lnTo>
                  <a:pt x="544900" y="544901"/>
                </a:lnTo>
                <a:lnTo>
                  <a:pt x="0" y="544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197337" y="1940919"/>
            <a:ext cx="6408870" cy="4164850"/>
            <a:chOff x="0" y="0"/>
            <a:chExt cx="992902" cy="6452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2902" cy="645244"/>
            </a:xfrm>
            <a:custGeom>
              <a:avLst/>
              <a:gdLst/>
              <a:ahLst/>
              <a:cxnLst/>
              <a:rect r="r" b="b" t="t" l="l"/>
              <a:pathLst>
                <a:path h="645244" w="992902">
                  <a:moveTo>
                    <a:pt x="0" y="0"/>
                  </a:moveTo>
                  <a:lnTo>
                    <a:pt x="992902" y="0"/>
                  </a:lnTo>
                  <a:lnTo>
                    <a:pt x="992902" y="645244"/>
                  </a:lnTo>
                  <a:lnTo>
                    <a:pt x="0" y="645244"/>
                  </a:lnTo>
                  <a:close/>
                </a:path>
              </a:pathLst>
            </a:custGeom>
            <a:blipFill>
              <a:blip r:embed="rId7"/>
              <a:stretch>
                <a:fillRect l="0" t="-1293" r="0" b="-129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45561" y="1010644"/>
            <a:ext cx="6222807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03515" y="2319549"/>
            <a:ext cx="308827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EXPOSURE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33863" y="6671124"/>
            <a:ext cx="4183299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CREDENTIAL LEAKAGE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14897" y="7284650"/>
            <a:ext cx="304299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ATTACK CHAINING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03515" y="2905513"/>
            <a:ext cx="5680349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 internal files, service responses, or configuration data may be leaked.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933863" y="7255390"/>
            <a:ext cx="5680349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 secrets or tokens may be exposed.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714897" y="7899189"/>
            <a:ext cx="5013867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SSRF can be used as a stepping stone for deeper compromise.</a:t>
            </a: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Freeform 27" id="27"/>
          <p:cNvSpPr/>
          <p:nvPr/>
        </p:nvSpPr>
        <p:spPr>
          <a:xfrm flipH="false" flipV="true" rot="8100000">
            <a:off x="5508702" y="-2610140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4114800"/>
                </a:moveTo>
                <a:lnTo>
                  <a:pt x="6211019" y="4114800"/>
                </a:lnTo>
                <a:lnTo>
                  <a:pt x="62110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643924" y="4219327"/>
            <a:ext cx="903555" cy="903555"/>
            <a:chOff x="0" y="0"/>
            <a:chExt cx="237973" cy="237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880421" y="4368586"/>
            <a:ext cx="449612" cy="503767"/>
          </a:xfrm>
          <a:custGeom>
            <a:avLst/>
            <a:gdLst/>
            <a:ahLst/>
            <a:cxnLst/>
            <a:rect r="r" b="b" t="t" l="l"/>
            <a:pathLst>
              <a:path h="503767" w="449612">
                <a:moveTo>
                  <a:pt x="0" y="0"/>
                </a:moveTo>
                <a:lnTo>
                  <a:pt x="449612" y="0"/>
                </a:lnTo>
                <a:lnTo>
                  <a:pt x="449612" y="503766"/>
                </a:lnTo>
                <a:lnTo>
                  <a:pt x="0" y="5037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933863" y="4181227"/>
            <a:ext cx="5850000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UNAUTHORIZED INTERNAL ACCESS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33863" y="4765494"/>
            <a:ext cx="5680349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98AAB6"/>
                </a:solidFill>
                <a:latin typeface="Inter"/>
                <a:ea typeface="Inter"/>
                <a:cs typeface="Inter"/>
                <a:sym typeface="Inter"/>
              </a:rPr>
              <a:t> admin panels or internal APIs may be reached.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527960" y="7468886"/>
            <a:ext cx="649381" cy="649381"/>
          </a:xfrm>
          <a:custGeom>
            <a:avLst/>
            <a:gdLst/>
            <a:ahLst/>
            <a:cxnLst/>
            <a:rect r="r" b="b" t="t" l="l"/>
            <a:pathLst>
              <a:path h="649381" w="649381">
                <a:moveTo>
                  <a:pt x="0" y="0"/>
                </a:moveTo>
                <a:lnTo>
                  <a:pt x="649382" y="0"/>
                </a:lnTo>
                <a:lnTo>
                  <a:pt x="649382" y="649382"/>
                </a:lnTo>
                <a:lnTo>
                  <a:pt x="0" y="6493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92064" y="2899238"/>
            <a:ext cx="5073681" cy="473364"/>
            <a:chOff x="0" y="0"/>
            <a:chExt cx="6764908" cy="63115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31152" cy="631152"/>
              <a:chOff x="0" y="0"/>
              <a:chExt cx="124672" cy="1246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4672" cy="124672"/>
              </a:xfrm>
              <a:custGeom>
                <a:avLst/>
                <a:gdLst/>
                <a:ahLst/>
                <a:cxnLst/>
                <a:rect r="r" b="b" t="t" l="l"/>
                <a:pathLst>
                  <a:path h="124672" w="124672">
                    <a:moveTo>
                      <a:pt x="0" y="0"/>
                    </a:moveTo>
                    <a:lnTo>
                      <a:pt x="124672" y="0"/>
                    </a:lnTo>
                    <a:lnTo>
                      <a:pt x="124672" y="124672"/>
                    </a:lnTo>
                    <a:lnTo>
                      <a:pt x="0" y="1246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124672" cy="1056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19325" y="157788"/>
              <a:ext cx="192501" cy="315576"/>
            </a:xfrm>
            <a:custGeom>
              <a:avLst/>
              <a:gdLst/>
              <a:ahLst/>
              <a:cxnLst/>
              <a:rect r="r" b="b" t="t" l="l"/>
              <a:pathLst>
                <a:path h="315576" w="192501">
                  <a:moveTo>
                    <a:pt x="0" y="0"/>
                  </a:moveTo>
                  <a:lnTo>
                    <a:pt x="192501" y="0"/>
                  </a:lnTo>
                  <a:lnTo>
                    <a:pt x="192501" y="315576"/>
                  </a:lnTo>
                  <a:lnTo>
                    <a:pt x="0" y="315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015366" y="74380"/>
              <a:ext cx="5749542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DEBIAN ( WEB SERVER 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899238"/>
            <a:ext cx="4882594" cy="473364"/>
            <a:chOff x="0" y="0"/>
            <a:chExt cx="6510125" cy="63115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31152" cy="631152"/>
              <a:chOff x="0" y="0"/>
              <a:chExt cx="124672" cy="12467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4672" cy="124672"/>
              </a:xfrm>
              <a:custGeom>
                <a:avLst/>
                <a:gdLst/>
                <a:ahLst/>
                <a:cxnLst/>
                <a:rect r="r" b="b" t="t" l="l"/>
                <a:pathLst>
                  <a:path h="124672" w="124672">
                    <a:moveTo>
                      <a:pt x="0" y="0"/>
                    </a:moveTo>
                    <a:lnTo>
                      <a:pt x="124672" y="0"/>
                    </a:lnTo>
                    <a:lnTo>
                      <a:pt x="124672" y="124672"/>
                    </a:lnTo>
                    <a:lnTo>
                      <a:pt x="0" y="12467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124672" cy="1056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19325" y="157788"/>
              <a:ext cx="192501" cy="315576"/>
            </a:xfrm>
            <a:custGeom>
              <a:avLst/>
              <a:gdLst/>
              <a:ahLst/>
              <a:cxnLst/>
              <a:rect r="r" b="b" t="t" l="l"/>
              <a:pathLst>
                <a:path h="315576" w="192501">
                  <a:moveTo>
                    <a:pt x="0" y="0"/>
                  </a:moveTo>
                  <a:lnTo>
                    <a:pt x="192501" y="0"/>
                  </a:lnTo>
                  <a:lnTo>
                    <a:pt x="192501" y="315576"/>
                  </a:lnTo>
                  <a:lnTo>
                    <a:pt x="0" y="315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15366" y="99780"/>
              <a:ext cx="5494759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WINDOW 11 ( ATTACKER )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10800000">
            <a:off x="14665745" y="8402106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1242" y="3605614"/>
            <a:ext cx="7743189" cy="5652686"/>
          </a:xfrm>
          <a:custGeom>
            <a:avLst/>
            <a:gdLst/>
            <a:ahLst/>
            <a:cxnLst/>
            <a:rect r="r" b="b" t="t" l="l"/>
            <a:pathLst>
              <a:path h="5652686" w="7743189">
                <a:moveTo>
                  <a:pt x="0" y="0"/>
                </a:moveTo>
                <a:lnTo>
                  <a:pt x="7743189" y="0"/>
                </a:lnTo>
                <a:lnTo>
                  <a:pt x="7743189" y="5652686"/>
                </a:lnTo>
                <a:lnTo>
                  <a:pt x="0" y="56526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4235" t="0" r="-25128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92064" y="3605614"/>
            <a:ext cx="7038238" cy="6176054"/>
          </a:xfrm>
          <a:custGeom>
            <a:avLst/>
            <a:gdLst/>
            <a:ahLst/>
            <a:cxnLst/>
            <a:rect r="r" b="b" t="t" l="l"/>
            <a:pathLst>
              <a:path h="6176054" w="7038238">
                <a:moveTo>
                  <a:pt x="0" y="0"/>
                </a:moveTo>
                <a:lnTo>
                  <a:pt x="7038239" y="0"/>
                </a:lnTo>
                <a:lnTo>
                  <a:pt x="7038239" y="6176054"/>
                </a:lnTo>
                <a:lnTo>
                  <a:pt x="0" y="6176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1210393"/>
            <a:ext cx="799914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DEMONSTRATION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9968" y="569627"/>
            <a:ext cx="3268542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6428" y="2159718"/>
            <a:ext cx="305853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DEVICES IN USED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14665745" y="8402106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10393"/>
            <a:ext cx="799914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DEMONSTRATION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9968" y="569627"/>
            <a:ext cx="3268542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27840" y="1478680"/>
            <a:ext cx="7779671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b="true" sz="2500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7" tooltip="https://youtu.be/fqqd5aaeibo"/>
              </a:rPr>
              <a:t>NORMAL BEHAVIOR OF THE WEBSITE</a:t>
            </a:r>
          </a:p>
        </p:txBody>
      </p:sp>
      <p:pic>
        <p:nvPicPr>
          <p:cNvPr name="Picture 12" id="12"/>
          <p:cNvPicPr>
            <a:picLocks noChangeAspect="true"/>
          </p:cNvPicPr>
          <p:nvPr>
            <a:videoFile r:link="rId9"/>
          </p:nvPr>
        </p:nvPicPr>
        <p:blipFill>
          <a:blip r:embed="rId8"/>
          <a:stretch>
            <a:fillRect/>
          </a:stretch>
        </p:blipFill>
        <p:spPr>
          <a:xfrm rot="0">
            <a:off x="1897159" y="2140668"/>
            <a:ext cx="14493682" cy="8146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14665745" y="8402106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10393"/>
            <a:ext cx="799914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DEMONSTRATION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9968" y="569627"/>
            <a:ext cx="3268542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27840" y="1478680"/>
            <a:ext cx="7779671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b="true" sz="2500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7" tooltip="https://youtu.be/BlL8oo71ch0"/>
              </a:rPr>
              <a:t>VULNERABLE BEHAVIOR OF THE WEBSITE</a:t>
            </a:r>
          </a:p>
        </p:txBody>
      </p:sp>
      <p:pic>
        <p:nvPicPr>
          <p:cNvPr name="Picture 12" id="12"/>
          <p:cNvPicPr>
            <a:picLocks noChangeAspect="true"/>
          </p:cNvPicPr>
          <p:nvPr>
            <a:videoFile r:link="rId9"/>
          </p:nvPr>
        </p:nvPicPr>
        <p:blipFill>
          <a:blip r:embed="rId8"/>
          <a:stretch>
            <a:fillRect/>
          </a:stretch>
        </p:blipFill>
        <p:spPr>
          <a:xfrm rot="0">
            <a:off x="1657145" y="2012149"/>
            <a:ext cx="14722338" cy="82748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10393"/>
            <a:ext cx="10249799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Prevention / Mitigation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727306"/>
            <a:ext cx="903555" cy="903555"/>
            <a:chOff x="0" y="0"/>
            <a:chExt cx="237973" cy="2379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538553"/>
            <a:ext cx="6642307" cy="3927044"/>
            <a:chOff x="0" y="0"/>
            <a:chExt cx="8856409" cy="523605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10111"/>
              <a:ext cx="1204740" cy="1204740"/>
              <a:chOff x="0" y="0"/>
              <a:chExt cx="237973" cy="23797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309040"/>
              <a:ext cx="1204740" cy="1204740"/>
              <a:chOff x="0" y="0"/>
              <a:chExt cx="237973" cy="23797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7973" cy="237973"/>
              </a:xfrm>
              <a:custGeom>
                <a:avLst/>
                <a:gdLst/>
                <a:ahLst/>
                <a:cxnLst/>
                <a:rect r="r" b="b" t="t" l="l"/>
                <a:pathLst>
                  <a:path h="237973" w="237973">
                    <a:moveTo>
                      <a:pt x="0" y="0"/>
                    </a:moveTo>
                    <a:lnTo>
                      <a:pt x="237973" y="0"/>
                    </a:lnTo>
                    <a:lnTo>
                      <a:pt x="237973" y="237973"/>
                    </a:lnTo>
                    <a:lnTo>
                      <a:pt x="0" y="23797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2E34">
                      <a:alpha val="100000"/>
                    </a:srgbClr>
                  </a:gs>
                  <a:gs pos="100000">
                    <a:srgbClr val="5DC1D3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237973" cy="2189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692856" y="840877"/>
              <a:ext cx="7163553" cy="862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BF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Never trust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use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 input. Check it strictly and </a:t>
              </a:r>
              <a:r>
                <a:rPr lang="en-US" sz="1900">
                  <a:solidFill>
                    <a:srgbClr val="FF313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reject 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unexpected or malicious values.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92856" y="3039807"/>
              <a:ext cx="7163553" cy="2196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BF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</a:t>
              </a:r>
              <a:r>
                <a:rPr lang="en-US" sz="1900">
                  <a:solidFill>
                    <a:srgbClr val="00BF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otect internal services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with proper authentication and authorization like </a:t>
              </a:r>
            </a:p>
            <a:p>
              <a:pPr algn="l" marL="410218" indent="-205109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MongoDB (Database)</a:t>
              </a:r>
            </a:p>
            <a:p>
              <a:pPr algn="l" marL="410218" indent="-205109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Elasticsearch (Search &amp; analytics engine)</a:t>
              </a:r>
            </a:p>
            <a:p>
              <a:pPr algn="l" marL="410218" indent="-205109" lvl="1">
                <a:lnSpc>
                  <a:spcPts val="2660"/>
                </a:lnSpc>
                <a:buFont typeface="Arial"/>
                <a:buChar char="•"/>
              </a:pP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Memcached (in-memory key-value store)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92856" y="19050"/>
              <a:ext cx="7163553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Validate and sanitize input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92856" y="2217979"/>
              <a:ext cx="7163553" cy="48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Authenticate internal services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81720"/>
              <a:ext cx="1175472" cy="480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9"/>
                </a:lnSpc>
              </a:pPr>
              <a:r>
                <a:rPr lang="en-US" sz="24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680650"/>
              <a:ext cx="1175472" cy="480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9"/>
                </a:lnSpc>
              </a:pPr>
              <a:r>
                <a:rPr lang="en-US" sz="24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5733062" y="-2385797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144000" y="3473596"/>
            <a:ext cx="903555" cy="903555"/>
            <a:chOff x="0" y="0"/>
            <a:chExt cx="237973" cy="2379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7138540"/>
            <a:ext cx="903555" cy="903555"/>
            <a:chOff x="0" y="0"/>
            <a:chExt cx="237973" cy="237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973" cy="237973"/>
            </a:xfrm>
            <a:custGeom>
              <a:avLst/>
              <a:gdLst/>
              <a:ahLst/>
              <a:cxnLst/>
              <a:rect r="r" b="b" t="t" l="l"/>
              <a:pathLst>
                <a:path h="237973" w="237973">
                  <a:moveTo>
                    <a:pt x="0" y="0"/>
                  </a:moveTo>
                  <a:lnTo>
                    <a:pt x="237973" y="0"/>
                  </a:lnTo>
                  <a:lnTo>
                    <a:pt x="237973" y="237973"/>
                  </a:lnTo>
                  <a:lnTo>
                    <a:pt x="0" y="237973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237973" cy="21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9144000" y="4954485"/>
            <a:ext cx="6484719" cy="1815721"/>
          </a:xfrm>
          <a:custGeom>
            <a:avLst/>
            <a:gdLst/>
            <a:ahLst/>
            <a:cxnLst/>
            <a:rect r="r" b="b" t="t" l="l"/>
            <a:pathLst>
              <a:path h="1815721" w="6484719">
                <a:moveTo>
                  <a:pt x="0" y="0"/>
                </a:moveTo>
                <a:lnTo>
                  <a:pt x="6484719" y="0"/>
                </a:lnTo>
                <a:lnTo>
                  <a:pt x="6484719" y="1815722"/>
                </a:lnTo>
                <a:lnTo>
                  <a:pt x="0" y="1815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298342" y="3262714"/>
            <a:ext cx="5592763" cy="1990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Allow 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only the schemes the app needs, usually </a:t>
            </a:r>
            <a:r>
              <a:rPr lang="en-US" sz="1900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https://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 and Block risky schemes like 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file:// 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ftp://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gopher://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dict://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98342" y="2660631"/>
            <a:ext cx="537266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Disable unused URL schemes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3035347"/>
            <a:ext cx="881604" cy="35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9968" y="569627"/>
            <a:ext cx="2896987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13642" y="4012146"/>
            <a:ext cx="5372665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Only allow approved </a:t>
            </a:r>
            <a:r>
              <a:rPr lang="en-US" sz="1900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domains/IPs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. Validate and </a:t>
            </a:r>
            <a:r>
              <a:rPr lang="en-US" sz="190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restrict </a:t>
            </a: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user input to known safe targets.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13642" y="7677089"/>
            <a:ext cx="5372665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98AAB6"/>
                </a:solidFill>
                <a:latin typeface="Canva Sans"/>
                <a:ea typeface="Canva Sans"/>
                <a:cs typeface="Canva Sans"/>
                <a:sym typeface="Canva Sans"/>
              </a:rPr>
              <a:t>Do not return raw backend responses. Filter and validate data before sending it to users.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13642" y="3410063"/>
            <a:ext cx="537266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Allowlist + DNS check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13642" y="7075007"/>
            <a:ext cx="537266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 response handling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0" y="3757066"/>
            <a:ext cx="88160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0" y="7422009"/>
            <a:ext cx="88160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4000" y="2660697"/>
            <a:ext cx="537266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Measure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00027" y="5351171"/>
            <a:ext cx="5372665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b="true" sz="2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8" tooltip="http://127.0.0.1:5000/secrethttp:/192.168.1.10/config"/>
              </a:rPr>
              <a:t>http://localhost:8080/admin</a:t>
            </a:r>
          </a:p>
          <a:p>
            <a:pPr algn="l">
              <a:lnSpc>
                <a:spcPts val="2750"/>
              </a:lnSpc>
            </a:pPr>
            <a:r>
              <a:rPr lang="en-US" b="true" sz="2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9" tooltip="http://127.0.0.1:5000/secrethttp:/192.168.1.10/config"/>
              </a:rPr>
              <a:t>http://127.0.0.1:5000/secret http://192.168.1.10/config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48626" y="9349565"/>
            <a:ext cx="1026366" cy="918597"/>
          </a:xfrm>
          <a:custGeom>
            <a:avLst/>
            <a:gdLst/>
            <a:ahLst/>
            <a:cxnLst/>
            <a:rect r="r" b="b" t="t" l="l"/>
            <a:pathLst>
              <a:path h="918597" w="1026366">
                <a:moveTo>
                  <a:pt x="0" y="0"/>
                </a:moveTo>
                <a:lnTo>
                  <a:pt x="1026366" y="0"/>
                </a:lnTo>
                <a:lnTo>
                  <a:pt x="1026366" y="918597"/>
                </a:lnTo>
                <a:lnTo>
                  <a:pt x="0" y="918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2413" y="8547882"/>
            <a:ext cx="1384908" cy="1603367"/>
          </a:xfrm>
          <a:custGeom>
            <a:avLst/>
            <a:gdLst/>
            <a:ahLst/>
            <a:cxnLst/>
            <a:rect r="r" b="b" t="t" l="l"/>
            <a:pathLst>
              <a:path h="1603367" w="1384908">
                <a:moveTo>
                  <a:pt x="0" y="0"/>
                </a:moveTo>
                <a:lnTo>
                  <a:pt x="1384908" y="0"/>
                </a:lnTo>
                <a:lnTo>
                  <a:pt x="1384908" y="1603366"/>
                </a:lnTo>
                <a:lnTo>
                  <a:pt x="0" y="16033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00264" y="1309292"/>
            <a:ext cx="10687471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9968" y="569627"/>
            <a:ext cx="3062905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6705222" y="2917196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4780689" y="3296421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721333" y="3461393"/>
            <a:ext cx="10845334" cy="3026406"/>
            <a:chOff x="0" y="0"/>
            <a:chExt cx="14460445" cy="403520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4460445" cy="862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OWASP Cheat Sheet (</a:t>
              </a:r>
              <a:r>
                <a:rPr lang="en-US" sz="1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SSRF Prevention )</a:t>
              </a:r>
              <a:r>
                <a:rPr lang="en-US" sz="1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</a:t>
              </a:r>
              <a:r>
                <a:rPr lang="en-US" sz="1900" u="sng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  <a:hlinkClick r:id="rId11" tooltip="https://cheatsheetseries.owasp.org/cheatsheets/Server_Side_Request_Forgery_Prevention_Cheat_Sheet.html"/>
                </a:rPr>
                <a:t>https://cheatsheetseries.owasp.org/cheatsheets/Server_Side_Request_Forgery_Prevention_Cheat_Sheet.html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954104"/>
              <a:ext cx="14460445" cy="862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SSRF Bible Cheatsheet</a:t>
              </a:r>
              <a:r>
                <a:rPr lang="en-US" sz="19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</a:t>
              </a:r>
              <a:r>
                <a:rPr lang="en-US" sz="1900" u="sng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  <a:hlinkClick r:id="rId12" tooltip="https://cheatsheetseries.owasp.org/assets/Server_Side_Request_Forgery_Prevention_Cheat_Sheet_SSRF_Bible.pdf"/>
                </a:rPr>
                <a:t>https://cheatsheetseries.owasp.org/assets/Server_Side_Request_Forgery_Prevention_Cheat_Sheet_SSRF_Bible.pdf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80252"/>
              <a:ext cx="14460445" cy="4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Veracode 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</a:t>
              </a:r>
              <a:r>
                <a:rPr lang="en-US" sz="1900" u="sng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  <a:hlinkClick r:id="rId13" tooltip="https://info.veracode.com/rs/790-ZKW-291/images/ssrf-prevention-guide-en.pdf"/>
                </a:rPr>
                <a:t>https://info.veracode.com/rs/790-ZKW-291/images/ssrf-prevention-guide-en.pdf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172456"/>
              <a:ext cx="14460445" cy="862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New Era Of SSRF</a:t>
              </a:r>
              <a:r>
                <a:rPr lang="en-US" sz="1900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: </a:t>
              </a:r>
              <a:r>
                <a:rPr lang="en-US" sz="1900" u="sng">
                  <a:solidFill>
                    <a:srgbClr val="98AAB6"/>
                  </a:solidFill>
                  <a:latin typeface="Canva Sans"/>
                  <a:ea typeface="Canva Sans"/>
                  <a:cs typeface="Canva Sans"/>
                  <a:sym typeface="Canva Sans"/>
                  <a:hlinkClick r:id="rId14" tooltip="https://blackhat.com/docs/us-17/thursday/us-17-Tsai-A-New-Era-Of-SSRF-Exploiting-URL-Parser-In-Trending-Programming-Languages.pdf"/>
                </a:rPr>
                <a:t>https://blackhat.com/docs/us-17/thursday/us-17-Tsai-A-New-Era-Of-SSRF-Exploiting-URL-Parser-In-Trending-Programming-Languages.pdf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7" t="0" r="-10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98314" y="6635890"/>
            <a:ext cx="6291371" cy="767827"/>
            <a:chOff x="0" y="0"/>
            <a:chExt cx="6025782" cy="73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25782" cy="735413"/>
            </a:xfrm>
            <a:custGeom>
              <a:avLst/>
              <a:gdLst/>
              <a:ahLst/>
              <a:cxnLst/>
              <a:rect r="r" b="b" t="t" l="l"/>
              <a:pathLst>
                <a:path h="735413" w="6025782">
                  <a:moveTo>
                    <a:pt x="203200" y="0"/>
                  </a:moveTo>
                  <a:lnTo>
                    <a:pt x="6025782" y="0"/>
                  </a:lnTo>
                  <a:lnTo>
                    <a:pt x="5822582" y="735413"/>
                  </a:lnTo>
                  <a:lnTo>
                    <a:pt x="0" y="73541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19050"/>
              <a:ext cx="5822582" cy="71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3306" y="545578"/>
            <a:ext cx="483122" cy="483122"/>
          </a:xfrm>
          <a:custGeom>
            <a:avLst/>
            <a:gdLst/>
            <a:ahLst/>
            <a:cxnLst/>
            <a:rect r="r" b="b" t="t" l="l"/>
            <a:pathLst>
              <a:path h="483122" w="483122">
                <a:moveTo>
                  <a:pt x="0" y="0"/>
                </a:moveTo>
                <a:lnTo>
                  <a:pt x="483122" y="0"/>
                </a:lnTo>
                <a:lnTo>
                  <a:pt x="483122" y="483122"/>
                </a:lnTo>
                <a:lnTo>
                  <a:pt x="0" y="48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65441" y="4013060"/>
            <a:ext cx="11757119" cy="262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6"/>
              </a:lnSpc>
            </a:pPr>
            <a:r>
              <a:rPr lang="en-US" sz="19636">
                <a:solidFill>
                  <a:srgbClr val="FFFFFF"/>
                </a:solidFill>
                <a:latin typeface="Zcool QingKe HuangYou"/>
                <a:ea typeface="Zcool QingKe HuangYou"/>
                <a:cs typeface="Zcool QingKe HuangYou"/>
                <a:sym typeface="Zcool QingKe HuangYou"/>
              </a:rPr>
              <a:t>THANKS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39665" y="6851496"/>
            <a:ext cx="560280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 &amp; 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9968" y="569627"/>
            <a:ext cx="2896987" cy="3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Programming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16660024" y="42013"/>
            <a:ext cx="1481641" cy="740820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2E34">
                    <a:alpha val="100000"/>
                  </a:srgbClr>
                </a:gs>
                <a:gs pos="100000">
                  <a:srgbClr val="5DC1D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985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044598" y="431473"/>
            <a:ext cx="71249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4404045" y="7935201"/>
            <a:ext cx="6211019" cy="4114800"/>
          </a:xfrm>
          <a:custGeom>
            <a:avLst/>
            <a:gdLst/>
            <a:ahLst/>
            <a:cxnLst/>
            <a:rect r="r" b="b" t="t" l="l"/>
            <a:pathLst>
              <a:path h="4114800" w="6211019">
                <a:moveTo>
                  <a:pt x="0" y="0"/>
                </a:moveTo>
                <a:lnTo>
                  <a:pt x="6211019" y="0"/>
                </a:lnTo>
                <a:lnTo>
                  <a:pt x="6211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DAHE386nYDQ</dc:identifier>
  <dcterms:modified xsi:type="dcterms:W3CDTF">2011-08-01T06:04:30Z</dcterms:modified>
  <cp:revision>1</cp:revision>
  <dc:title>Dark Blue Modern Cybersecurity Presentation</dc:title>
</cp:coreProperties>
</file>